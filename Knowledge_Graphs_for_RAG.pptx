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to the graphrag-lab stand: comparing four RAG retrievers on one connected corpus. Results are pending until the evaluation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question types are the axis of the whole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difference: vector = nearest chunks by similarity; graph = traverse relations across documents. Then go into the graph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107-doc corpus. Multi-hop: vector 0.00 recall &amp; relevancy; graph_vector 0.39 recall / 0.63 relevancy, graph 0.26/0.33. Global relevancy: graph_vector 0.78, graph 0.40 vs vector 0.00. Bridge chains found: vector 0/5, graph 2/5, graph_vector 3/5. Misses = lossy extraction.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234440"/>
            <a:ext cx="11057839" cy="4526280"/>
          </a:xfrm>
          <a:prstGeom prst="roundRect">
            <a:avLst>
              <a:gd name="adj" fmla="val 3636"/>
            </a:avLst>
          </a:prstGeom>
          <a:solidFill>
            <a:srgbClr val="E6F9F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1783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6974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 for RAG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8862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vector, graph, and hybrid retrieval on your own documents.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  ·  Tech Talk ·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33638" y="3246120"/>
            <a:ext cx="1433322" cy="914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0" y="3246120"/>
            <a:ext cx="1433322" cy="914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9966960" y="2069287"/>
            <a:ext cx="754380" cy="1176833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3638" y="3246120"/>
            <a:ext cx="678942" cy="1176833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21340" y="2069287"/>
            <a:ext cx="678942" cy="1176833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7499" y="3049981"/>
            <a:ext cx="392278" cy="392278"/>
          </a:xfrm>
          <a:prstGeom prst="ellipse">
            <a:avLst/>
          </a:prstGeom>
          <a:solidFill>
            <a:srgbClr val="00BF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70821" y="3049981"/>
            <a:ext cx="392278" cy="392278"/>
          </a:xfrm>
          <a:prstGeom prst="ellipse">
            <a:avLst/>
          </a:prstGeom>
          <a:solidFill>
            <a:srgbClr val="704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04143" y="3049981"/>
            <a:ext cx="392278" cy="392278"/>
          </a:xfrm>
          <a:prstGeom prst="ellipse">
            <a:avLst/>
          </a:prstGeom>
          <a:solidFill>
            <a:srgbClr val="FF78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25201" y="1873148"/>
            <a:ext cx="392278" cy="392278"/>
          </a:xfrm>
          <a:prstGeom prst="ellipse">
            <a:avLst/>
          </a:prstGeom>
          <a:solidFill>
            <a:srgbClr val="00BF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16441" y="4226814"/>
            <a:ext cx="392278" cy="392278"/>
          </a:xfrm>
          <a:prstGeom prst="ellipse">
            <a:avLst/>
          </a:prstGeom>
          <a:solidFill>
            <a:srgbClr val="704FBF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pPr algn="l" indent="0" marL="0">
              <a:buNone/>
            </a:pPr>
            <a:r>
              <a:rPr lang="en-US" sz="30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 graph?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vector RAG</a:t>
            </a:r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retrieves the top-k chunks most similar to the question. That is great when the answer sits in one place — and weak when it doesn't.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3503066" cy="3108960"/>
          </a:xfrm>
          <a:prstGeom prst="roundRect">
            <a:avLst>
              <a:gd name="adj" fmla="val 2941"/>
            </a:avLst>
          </a:prstGeom>
          <a:solidFill>
            <a:srgbClr val="E6F9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70048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82112"/>
            <a:ext cx="299100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lives in a single chunk.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 alone usually handles this well.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4314" y="2468880"/>
            <a:ext cx="3503066" cy="3108960"/>
          </a:xfrm>
          <a:prstGeom prst="roundRect">
            <a:avLst>
              <a:gd name="adj" fmla="val 2941"/>
            </a:avLst>
          </a:prstGeom>
          <a:solidFill>
            <a:srgbClr val="F1EC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00346" y="2670048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0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00346" y="3182112"/>
            <a:ext cx="299100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requires linking entities across several documents.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misses the chain; a graph traverses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21701" y="2468880"/>
            <a:ext cx="3503066" cy="3108960"/>
          </a:xfrm>
          <a:prstGeom prst="roundRect">
            <a:avLst>
              <a:gd name="adj" fmla="val 2941"/>
            </a:avLst>
          </a:prstGeom>
          <a:solidFill>
            <a:srgbClr val="FFF1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77733" y="2670048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77733" y="3182112"/>
            <a:ext cx="299100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about the corpus as a whole.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summaries aggregate what scattered chunks can't.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</a:t>
            </a:r>
            <a:pPr algn="l" indent="0" marL="0">
              <a:buNone/>
            </a:pPr>
            <a:r>
              <a:rPr lang="en-US" sz="30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18488" y="1417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hard questions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756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207568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vs graph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34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618488" y="273405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3924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18488" y="339242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retrievers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050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618488" y="4050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— 107 docs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709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618488" y="4709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results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367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618488" y="53675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which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55380" y="3566160"/>
            <a:ext cx="1303020" cy="914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3566160"/>
            <a:ext cx="1303020" cy="914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10058400" y="2496312"/>
            <a:ext cx="685800" cy="1069848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5380" y="3566160"/>
            <a:ext cx="617220" cy="1069848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44200" y="2496312"/>
            <a:ext cx="617220" cy="1069848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77072" y="3387852"/>
            <a:ext cx="356616" cy="356616"/>
          </a:xfrm>
          <a:prstGeom prst="ellipse">
            <a:avLst/>
          </a:prstGeom>
          <a:solidFill>
            <a:srgbClr val="00BF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80092" y="3387852"/>
            <a:ext cx="356616" cy="356616"/>
          </a:xfrm>
          <a:prstGeom prst="ellipse">
            <a:avLst/>
          </a:prstGeom>
          <a:solidFill>
            <a:srgbClr val="704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83112" y="3387852"/>
            <a:ext cx="356616" cy="356616"/>
          </a:xfrm>
          <a:prstGeom prst="ellipse">
            <a:avLst/>
          </a:prstGeom>
          <a:solidFill>
            <a:srgbClr val="FF78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5892" y="2318004"/>
            <a:ext cx="356616" cy="356616"/>
          </a:xfrm>
          <a:prstGeom prst="ellipse">
            <a:avLst/>
          </a:prstGeom>
          <a:solidFill>
            <a:srgbClr val="00BF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94292" y="4457700"/>
            <a:ext cx="356616" cy="356616"/>
          </a:xfrm>
          <a:prstGeom prst="ellipse">
            <a:avLst/>
          </a:prstGeom>
          <a:solidFill>
            <a:srgbClr val="704FBF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approaches: </a:t>
            </a:r>
            <a:pPr algn="l" indent="0" marL="0">
              <a:buNone/>
            </a:pPr>
            <a:r>
              <a:rPr lang="en-US" sz="30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vs graph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 returns the nearest chunks by similarity. </a:t>
            </a:r>
            <a:pPr algn="l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 graph links entities by relations you can traverse — so it can follow a chain across documents.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300320" cy="3520440"/>
          </a:xfrm>
          <a:prstGeom prst="roundRect">
            <a:avLst>
              <a:gd name="adj" fmla="val 3117"/>
            </a:avLst>
          </a:prstGeom>
          <a:solidFill>
            <a:srgbClr val="F7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2523744"/>
            <a:ext cx="471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vector is enough when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154680"/>
            <a:ext cx="466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are direct factual lookups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are independent / sparse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and cost are the priority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is small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2286000"/>
            <a:ext cx="5300320" cy="3520440"/>
          </a:xfrm>
          <a:prstGeom prst="roundRect">
            <a:avLst>
              <a:gd name="adj" fmla="val 3117"/>
            </a:avLst>
          </a:prstGeom>
          <a:solidFill>
            <a:srgbClr val="E6F9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17056" y="2523744"/>
            <a:ext cx="471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helps when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53632" y="3154680"/>
            <a:ext cx="466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are multi-hop or relational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are global / corpus-level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is densely connected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inspectable, explainable hops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</a:t>
            </a:r>
            <a:pPr algn="l" indent="0" marL="0">
              <a:buNone/>
            </a:pPr>
            <a:r>
              <a:rPr lang="en-US" sz="30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 graph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675120" cy="1051560"/>
          </a:xfrm>
          <a:prstGeom prst="roundRect">
            <a:avLst>
              <a:gd name="adj" fmla="val 8696"/>
            </a:avLst>
          </a:prstGeom>
          <a:solidFill>
            <a:srgbClr val="F7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property graph of the entities in your documents and the relations between them — </a:t>
            </a:r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the LLM at ingest time and stored alongside the vector index.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7706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0BF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706624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&amp; relations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extracts who/what and how they connect.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4290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0BF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9536" y="3364992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store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and vector index live together in Neo4j.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08736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0BF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" y="4023360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by traversing edges, not just similarity.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74573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0BF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9536" y="4681728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Inspectable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hop is an explicit edge you can read.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1371600"/>
            <a:ext cx="3989527" cy="4297680"/>
          </a:xfrm>
          <a:prstGeom prst="roundRect">
            <a:avLst>
              <a:gd name="adj" fmla="val 2750"/>
            </a:avLst>
          </a:prstGeom>
          <a:solidFill>
            <a:srgbClr val="F1EC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09560" y="1645920"/>
            <a:ext cx="3440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0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≠ vector index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2377440"/>
            <a:ext cx="344088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0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index:  </a:t>
            </a:r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chunks by embedding similarity.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3429000"/>
            <a:ext cx="34408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0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graph:  </a:t>
            </a:r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linked by extracted relations you can traverse across documents.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</a:t>
            </a:r>
            <a:pPr algn="l" indent="0" marL="0">
              <a:buNone/>
            </a:pPr>
            <a:r>
              <a:rPr lang="en-US" sz="30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documents to four queryable indexes, in one ingest pass.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457200" cy="457200"/>
          </a:xfrm>
          <a:prstGeom prst="ellipse">
            <a:avLst/>
          </a:prstGeom>
          <a:solidFill>
            <a:srgbClr val="00BF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1956816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 —  </a:t>
            </a:r>
            <a:pPr algn="l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documents from data/ and split them into chunks.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880360"/>
            <a:ext cx="457200" cy="457200"/>
          </a:xfrm>
          <a:prstGeom prst="ellipse">
            <a:avLst/>
          </a:prstGeom>
          <a:solidFill>
            <a:srgbClr val="00BF6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2825496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 —  </a:t>
            </a:r>
            <a:pPr algn="l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model turns chunks into vectors — no API key, offline.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704FB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3694176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 —  </a:t>
            </a:r>
            <a:pPr algn="l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pulls entities and relations into a property graph.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617720"/>
            <a:ext cx="457200" cy="457200"/>
          </a:xfrm>
          <a:prstGeom prst="ellipse">
            <a:avLst/>
          </a:prstGeom>
          <a:solidFill>
            <a:srgbClr val="704FB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4562856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 —  </a:t>
            </a:r>
            <a:pPr algn="l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holds the graph and the vectors in one database.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5486400"/>
            <a:ext cx="457200" cy="457200"/>
          </a:xfrm>
          <a:prstGeom prst="ellipse">
            <a:avLst/>
          </a:prstGeom>
          <a:solidFill>
            <a:srgbClr val="FF78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25296" y="5431536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 —  </a:t>
            </a:r>
            <a:pPr algn="l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strategies query those indexes and feed the answer.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</a:t>
            </a:r>
            <a:pPr algn="l" indent="0" marL="0">
              <a:buNone/>
            </a:pPr>
            <a:r>
              <a:rPr lang="en-US" sz="30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300320" cy="1965960"/>
          </a:xfrm>
          <a:prstGeom prst="roundRect">
            <a:avLst>
              <a:gd name="adj" fmla="val 4651"/>
            </a:avLst>
          </a:prstGeom>
          <a:solidFill>
            <a:srgbClr val="F7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09928"/>
            <a:ext cx="478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21992"/>
            <a:ext cx="478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Baseline. Top-k chunks by embedding similarity — fast and cheap.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24448" y="1508760"/>
            <a:ext cx="5300320" cy="1965960"/>
          </a:xfrm>
          <a:prstGeom prst="roundRect">
            <a:avLst>
              <a:gd name="adj" fmla="val 4651"/>
            </a:avLst>
          </a:prstGeom>
          <a:solidFill>
            <a:srgbClr val="E6F9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0480" y="1709928"/>
            <a:ext cx="478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0480" y="2221992"/>
            <a:ext cx="478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 the property graph from matched entities (multi-hop).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840480"/>
            <a:ext cx="5300320" cy="1965960"/>
          </a:xfrm>
          <a:prstGeom prst="roundRect">
            <a:avLst>
              <a:gd name="adj" fmla="val 4651"/>
            </a:avLst>
          </a:prstGeom>
          <a:solidFill>
            <a:srgbClr val="F1EC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041648"/>
            <a:ext cx="478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0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graph_vector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53712"/>
            <a:ext cx="478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on graph nodes + relation hops — hybrid inside the graph.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24448" y="3840480"/>
            <a:ext cx="5300320" cy="1965960"/>
          </a:xfrm>
          <a:prstGeom prst="roundRect">
            <a:avLst>
              <a:gd name="adj" fmla="val 4651"/>
            </a:avLst>
          </a:prstGeom>
          <a:solidFill>
            <a:srgbClr val="FFF1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0480" y="4041648"/>
            <a:ext cx="478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80480" y="4553712"/>
            <a:ext cx="478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vector + graph in parallel, merge via Reciprocal Rank Fusion.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</a:t>
            </a:r>
            <a:pPr algn="l" indent="0" marL="0">
              <a:buNone/>
            </a:pPr>
            <a:r>
              <a:rPr lang="en-US" sz="30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«Astrolab» — 107 short, auto-generated documents:  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→ teams → projects → technologies → vendors, plus project→project dependencies.</a:t>
            </a:r>
            <a:pPr algn="l" indent="0" marL="0">
              <a:buNone/>
            </a:pPr>
            <a:r>
              <a:rPr lang="en-US" sz="14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fact per document + many look-alike distractors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answer sits several hops from the question, outside vector's top-k. make_dataset.py builds it and derives the gold answers from the graph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3794760"/>
            <a:ext cx="2072640" cy="1737360"/>
          </a:xfrm>
          <a:prstGeom prst="roundRect">
            <a:avLst>
              <a:gd name="adj" fmla="val 5263"/>
            </a:avLst>
          </a:prstGeom>
          <a:solidFill>
            <a:srgbClr val="E6F9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995928"/>
            <a:ext cx="1560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07992"/>
            <a:ext cx="1560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in one document.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22448" y="3794760"/>
            <a:ext cx="2072640" cy="1737360"/>
          </a:xfrm>
          <a:prstGeom prst="roundRect">
            <a:avLst>
              <a:gd name="adj" fmla="val 5263"/>
            </a:avLst>
          </a:prstGeom>
          <a:solidFill>
            <a:srgbClr val="F1EC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78480" y="3995928"/>
            <a:ext cx="1560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0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78480" y="4507992"/>
            <a:ext cx="1560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across documents.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77968" y="3794760"/>
            <a:ext cx="2072640" cy="1737360"/>
          </a:xfrm>
          <a:prstGeom prst="roundRect">
            <a:avLst>
              <a:gd name="adj" fmla="val 5263"/>
            </a:avLst>
          </a:prstGeom>
          <a:solidFill>
            <a:srgbClr val="FFF1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34000" y="3995928"/>
            <a:ext cx="1560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34000" y="4507992"/>
            <a:ext cx="1560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whole corpus.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77022" y="3291840"/>
            <a:ext cx="1607058" cy="914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0" y="3291840"/>
            <a:ext cx="1607058" cy="914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9784080" y="1972361"/>
            <a:ext cx="845820" cy="1319479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7022" y="3291840"/>
            <a:ext cx="761238" cy="1319479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29900" y="1972361"/>
            <a:ext cx="761238" cy="1319479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7109" y="3071927"/>
            <a:ext cx="439826" cy="439826"/>
          </a:xfrm>
          <a:prstGeom prst="ellipse">
            <a:avLst/>
          </a:prstGeom>
          <a:solidFill>
            <a:srgbClr val="00BF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64167" y="3071927"/>
            <a:ext cx="439826" cy="439826"/>
          </a:xfrm>
          <a:prstGeom prst="ellipse">
            <a:avLst/>
          </a:prstGeom>
          <a:solidFill>
            <a:srgbClr val="704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71225" y="3071927"/>
            <a:ext cx="439826" cy="439826"/>
          </a:xfrm>
          <a:prstGeom prst="ellipse">
            <a:avLst/>
          </a:prstGeom>
          <a:solidFill>
            <a:srgbClr val="FF78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09987" y="1752448"/>
            <a:ext cx="439826" cy="439826"/>
          </a:xfrm>
          <a:prstGeom prst="ellipse">
            <a:avLst/>
          </a:prstGeom>
          <a:solidFill>
            <a:srgbClr val="00BF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18347" y="4391406"/>
            <a:ext cx="439826" cy="439826"/>
          </a:xfrm>
          <a:prstGeom prst="ellipse">
            <a:avLst/>
          </a:prstGeom>
          <a:solidFill>
            <a:srgbClr val="704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→ technology → vendor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</a:t>
            </a:r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0BF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59536" y="1472184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every claim in the answer grounded in the retrieved context? (LLM checks each claim)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26771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0BF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203704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answer_relevancy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answer actually address the question? (LLM + embeddings)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9992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704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9536" y="2935224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0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context_recall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retrieval fetch enough to support the reference answer? (needs gold answers)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73075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78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" y="3666744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&amp; sources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and how many chunks each retriever returned.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5720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6F9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459028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OpenAI key needed: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RAGAS judge is the same Claude model, and embeddings are the same local model used in the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pPr algn="l" indent="0" marL="0">
              <a:buNone/>
            </a:pPr>
            <a:r>
              <a:rPr lang="en-US" sz="30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107-doc corpus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57839" cy="621792"/>
          </a:xfrm>
          <a:prstGeom prst="roundRect">
            <a:avLst>
              <a:gd name="adj" fmla="val 14706"/>
            </a:avLst>
          </a:prstGeom>
          <a:solidFill>
            <a:srgbClr val="E6F9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344168"/>
            <a:ext cx="1050919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claude-sonnet-5 · RAGAS judge claude-haiku-4-5 · 12 questions.  </a:t>
            </a:r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run — scores indicative.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7839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2011680"/>
                <a:gridCol w="2368296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context_recall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graph_vector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factual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multi-hop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78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794760"/>
            <a:ext cx="3503066" cy="1417320"/>
          </a:xfrm>
          <a:prstGeom prst="roundRect">
            <a:avLst>
              <a:gd name="adj" fmla="val 6452"/>
            </a:avLst>
          </a:prstGeom>
          <a:solidFill>
            <a:srgbClr val="F1ECF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" y="3977640"/>
            <a:ext cx="31373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04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→ 0.63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663440"/>
            <a:ext cx="3137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answer_relevancy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→ graph_vector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4314" y="3794760"/>
            <a:ext cx="3503066" cy="1417320"/>
          </a:xfrm>
          <a:prstGeom prst="roundRect">
            <a:avLst>
              <a:gd name="adj" fmla="val 6452"/>
            </a:avLst>
          </a:prstGeom>
          <a:solidFill>
            <a:srgbClr val="E6F9F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27194" y="3977640"/>
            <a:ext cx="31373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3 / 5</a:t>
            </a:r>
            <a:endParaRPr lang="en-US" sz="2500" dirty="0"/>
          </a:p>
        </p:txBody>
      </p:sp>
      <p:sp>
        <p:nvSpPr>
          <p:cNvPr id="12" name="Text 9"/>
          <p:cNvSpPr txBox="1"/>
          <p:nvPr/>
        </p:nvSpPr>
        <p:spPr>
          <a:xfrm>
            <a:off x="4527194" y="4663440"/>
            <a:ext cx="3137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chains found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→ graph_vector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21701" y="3794760"/>
            <a:ext cx="3503066" cy="1417320"/>
          </a:xfrm>
          <a:prstGeom prst="roundRect">
            <a:avLst>
              <a:gd name="adj" fmla="val 6452"/>
            </a:avLst>
          </a:prstGeom>
          <a:solidFill>
            <a:srgbClr val="FFF1E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04581" y="3977640"/>
            <a:ext cx="31373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7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→ 0.78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8304581" y="4663440"/>
            <a:ext cx="31373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answer_relevancy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→ graph_vector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39496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 </a:t>
            </a:r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bigger, chain-heavy corpus vector collapses on multi-hop and global (0.00) while the graph family retrieves the chain; factual stays a tie. The bridges everyone misses are un-extracted edges → schema-guided extraction is the next win.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65615" y="384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each </a:t>
            </a:r>
            <a:pPr algn="l" indent="0" marL="0">
              <a:buNone/>
            </a:pPr>
            <a:r>
              <a:rPr lang="en-US" sz="30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 fits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9704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query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B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factual lookups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cheapest — one embedding search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B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multi-hop, relational questions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keyword step + graph traversal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B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graph_vector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multi-hop with fuzzy matches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vectors on nodes + relation hops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BF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robustness across all question types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+ graph, then RRF merge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7150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 </a:t>
            </a:r>
            <a:pPr algn="l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→ vector is enough; multi-hop &amp; global → reach for graph / graph_vector.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234440"/>
            <a:ext cx="11057839" cy="4526280"/>
          </a:xfrm>
          <a:prstGeom prst="roundRect">
            <a:avLst>
              <a:gd name="adj" fmla="val 3636"/>
            </a:avLst>
          </a:prstGeom>
          <a:solidFill>
            <a:srgbClr val="E6F9F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148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pPr indent="0" marL="0">
              <a:buNone/>
            </a:pPr>
            <a:r>
              <a:rPr lang="en-US" sz="5400" dirty="0">
                <a:solidFill>
                  <a:srgbClr val="00B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3520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graphrag-lab  ·  LlamaIndex + Neo4j + Claude  ·  local embeddings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90204" y="3291840"/>
            <a:ext cx="1476756" cy="914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0" y="3291840"/>
            <a:ext cx="1476756" cy="914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966960" y="2079346"/>
            <a:ext cx="777240" cy="121249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90204" y="3291840"/>
            <a:ext cx="699516" cy="121249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44200" y="2079346"/>
            <a:ext cx="699516" cy="121249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88122" y="3089758"/>
            <a:ext cx="404165" cy="404165"/>
          </a:xfrm>
          <a:prstGeom prst="ellipse">
            <a:avLst/>
          </a:prstGeom>
          <a:solidFill>
            <a:srgbClr val="00BF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64878" y="3089758"/>
            <a:ext cx="404165" cy="404165"/>
          </a:xfrm>
          <a:prstGeom prst="ellipse">
            <a:avLst/>
          </a:prstGeom>
          <a:solidFill>
            <a:srgbClr val="704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1634" y="3089758"/>
            <a:ext cx="404165" cy="404165"/>
          </a:xfrm>
          <a:prstGeom prst="ellipse">
            <a:avLst/>
          </a:prstGeom>
          <a:solidFill>
            <a:srgbClr val="FF78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42118" y="1877263"/>
            <a:ext cx="404165" cy="404165"/>
          </a:xfrm>
          <a:prstGeom prst="ellipse">
            <a:avLst/>
          </a:prstGeom>
          <a:solidFill>
            <a:srgbClr val="00BF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87638" y="4302252"/>
            <a:ext cx="404165" cy="404165"/>
          </a:xfrm>
          <a:prstGeom prst="ellipse">
            <a:avLst/>
          </a:prstGeom>
          <a:solidFill>
            <a:srgbClr val="704FBF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Graphs for RAG</dc:title>
  <dc:subject>PptxGenJS Presentation</dc:subject>
  <dc:creator>graphrag-lab</dc:creator>
  <cp:lastModifiedBy>graphrag-lab</cp:lastModifiedBy>
  <cp:revision>1</cp:revision>
  <dcterms:created xsi:type="dcterms:W3CDTF">2026-10-05T11:33:17Z</dcterms:created>
  <dcterms:modified xsi:type="dcterms:W3CDTF">2026-10-05T11:33:17Z</dcterms:modified>
</cp:coreProperties>
</file>